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(5 min antes): MySQL local no ar e scripts db/ aplicados (schema, seed, least_privilege); :3000 e :3001 abertos em duas abas; payloads.md à mão; zoom da fonte do navegador aumentado.
Abertura: apresente-se e diga o tema. 'Vou mostrar, na prática, uma das falhas mais comuns e perigosas da web: SQL Injection.'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duas abas lado a lado. Fale: 'Tudo aqui roda só na minha máquina, num ambiente isolado e de propósito vulnerável. O objetivo é defender melhor — testar sistemas sem autorização é crime. Combinado? Então bora.'
Mesma loja por fora; a diferença está por dentro (como o código conversa com o banco).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analogia do assistente distraído (doc 01): o formulário 'traga o prontuário de ____'. Se ele lê o texto do cliente como ordem sua, um espertinho escreve 'traga TODOS e queime o arquivo' — e ele obedece.
Frase-chave da aula, repita: 'DADO NUNCA DEVERIA VIRAR CÓDIGO.' Sem demo neste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o capô (doc 02). A query é montada por concatenação de texto. A aspa do atacante FECHA o literal cedo; o '-- ' comenta o resto da linha e apaga a checagem de senha.
Detalhe que derruba iniciante: a query é montada numa ÚNICA linha — por isso o '-- ' apaga o AND senha_hash inteiro. E o '-- ' do MySQL EXIGE um espaço depois; na dúvida, use '#'.
Molde: aspa -&gt; comando -&gt; comentário.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AO VIVO (doc 03). 1) Login normal admin/admin123 -&gt; mostra a query embaixo. 2) No campo Usuário cole admin'--  (senha em branco) -&gt; entra como admin; mostre a query: a aspa fechou o texto e o '-- ' comentou a senha. 3) Variação ' OR '1'='1' --  -&gt; loga no 1º usuário.
Antídoto: cole o mesmo admin'--  em :3001 -&gt; inválido. Se o '-- ' não funcionar no navegador, troque por '#' (admin'#).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AO VIVO na busca de :3000 (doc 04). 1) Busque só ' -&gt; erro cru do MySQL. 2) ' ORDER BY 4 --  (ok) e ' ORDER BY 5 --  (erro) -&gt; 4 colunas. 3) zzz' UNION SELECT 1, username, senha_hash, papel FROM usuarios --  -&gt; vaza a tabela de credenciais pelo campo de busca.
O 'zzz' no início esconde os produtos e mostra só o que vazou. Antídoto: mesmo payload em :3001 -&gt; nada, porque o UNION virou texto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 05. A app vulnerável CONCATENA o texto na string SQL — por isso a aspa vira código. A segura usa prepared statement: o comando vai com '?' e os valores vão separados; o banco fixa a FORMA da query antes de ver os dados. É o conserto de raiz, não é 'bloquear a aspa'.
Nuance mysql2: o problema não é o método query() em si — é a concatenação. query() com '?' também é seguro. Usei execute() por deixar explícito que é prepared statement. Regra: sempre '?', nunca ${input}.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 06. Prepared statement já resolve, mas segurança boa não aposta numa barreira só. Quatro camadas: 1) prepared statements; 2) validação/allowlist (^[A-Za-z0-9._@-]+$); 3) erro genérico (loga no servidor, mensagem neutra na tela); 4) menor privilégio (usuário app_seguro só tem SELECT). Bônus: multipleStatements:false corta stacked queries.
Demo relâmpago opcional (30s): conecte como app_seguro e rode DELETE FROM produtos; -&gt; 'command denied'. A última camada segurando o golpe.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(doc 07). Resuma: SQL Injection nasce de misturar dado com código. A cura é prepared statement — parametrizar sempre. Em volta, camadas: validar entrada, esconder erros e dar o mínimo de privilégio ao banco. A mesma tela pode ser um desastre ou um cofre — a diferença é COMO o código conversa com o banco. Perguntas?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cibersegurança na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874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ataque à defesa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loja em duas versões — uma vulnerável, uma segura.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709160"/>
            <a:ext cx="3840480" cy="40233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7091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VULNERÁVEL  ·  localhost:3000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81728" y="4709160"/>
            <a:ext cx="3383280" cy="402336"/>
          </a:xfrm>
          <a:prstGeom prst="roundRect">
            <a:avLst>
              <a:gd name="adj" fmla="val 50000"/>
            </a:avLst>
          </a:prstGeom>
          <a:solidFill>
            <a:srgbClr val="1F9D57"/>
          </a:solidFill>
          <a:ln/>
        </p:spPr>
      </p:sp>
      <p:sp>
        <p:nvSpPr>
          <p:cNvPr id="9" name="Text 7"/>
          <p:cNvSpPr/>
          <p:nvPr/>
        </p:nvSpPr>
        <p:spPr>
          <a:xfrm>
            <a:off x="4681728" y="47091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SEGURA  ·  localhost:3001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Apresentador: [Seu Nome]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00 · abertura &amp; ética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tela, dois comportamentos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193792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75688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0756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VULNERÁVEL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265176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154680"/>
            <a:ext cx="4462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 o input na query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erro cru do MySQL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como root (poder total)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08192" y="1783080"/>
            <a:ext cx="5193792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7568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F9D57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28232" y="265176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73952" y="3154680"/>
            <a:ext cx="4462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(?)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genérico na tela, detalhe no log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do banco só com SELECT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80060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E9F1FB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48006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100% local e isolado.  </a:t>
            </a:r>
            <a:pPr indent="0" marL="0">
              <a:buNone/>
            </a:pPr>
            <a:r>
              <a:rPr lang="en-US" sz="15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sistemas sem autorização é crime — aqui o objetivo é defender melhor.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· o 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</a:t>
            </a:r>
            <a:pPr indent="0" marL="0">
              <a:buNone/>
            </a:pPr>
            <a:r>
              <a:rPr lang="en-US" sz="40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nunca deveria virar </a:t>
            </a:r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é o texto do usuário virando comando do sistema. Quando essa fronteira quebra, nasce a injeção.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154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9F6E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3154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
</a:t>
            </a:r>
            <a:pPr algn="ctr" indent="0" marL="0"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usuário digita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70248" y="36393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95928" y="4087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concatenação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01768" y="3154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BEBEB"/>
          </a:solidFill>
          <a:ln/>
        </p:spPr>
      </p:sp>
      <p:sp>
        <p:nvSpPr>
          <p:cNvPr id="10" name="Text 8"/>
          <p:cNvSpPr/>
          <p:nvPr/>
        </p:nvSpPr>
        <p:spPr>
          <a:xfrm>
            <a:off x="5184648" y="3154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
</a:t>
            </a:r>
            <a:pPr algn="ctr" indent="0" marL="0"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banco executa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025128" y="3154680"/>
            <a:ext cx="259689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208008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assistente que lê o recado do cliente como se fosse uma ordem sua.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(sem demo aqui — é o gancho conceitual)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· anatomia do ataque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fronteira se rompe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52400" dist="50800" dir="5400000">
              <a:srgbClr val="0E1B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751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" y="19751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751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89888" y="1920240"/>
            <a:ext cx="10049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— entrada:  admin'––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2304288"/>
            <a:ext cx="10488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username, papel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 AND senha_hash = '...'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337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'admin'</a:t>
            </a:r>
            <a:pPr indent="0" marL="0">
              <a:buNone/>
            </a:pPr>
            <a:r>
              <a:rPr lang="en-US" sz="15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←  o DADO que você controla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' AND senha_hash = '...'</a:t>
            </a:r>
            <a:pPr indent="0" marL="0">
              <a:buNone/>
            </a:pPr>
            <a:r>
              <a:rPr lang="en-US" sz="15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←  comentado: a checagem de senha some, virou CÓDIGO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molde de quase todo payload: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502920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0E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0292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aspa   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27248" y="5029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502920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0B5CAD"/>
          </a:solidFill>
          <a:ln/>
        </p:spPr>
      </p:sp>
      <p:sp>
        <p:nvSpPr>
          <p:cNvPr id="17" name="Text 15"/>
          <p:cNvSpPr/>
          <p:nvPr/>
        </p:nvSpPr>
        <p:spPr>
          <a:xfrm>
            <a:off x="3538728" y="50292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48" y="5029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10528" y="502920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0E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50292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comentário   -- ou #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demo_01 · login bypass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como admin sem saber a senha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2331720"/>
          </a:xfrm>
          <a:prstGeom prst="roundRect">
            <a:avLst>
              <a:gd name="adj" fmla="val 3922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52400" dist="50800" dir="5400000">
              <a:srgbClr val="0E1B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751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" y="19751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751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89888" y="192024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 Usuário  (senha em branco)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2304288"/>
            <a:ext cx="619963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bypass por comentário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admin'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nem precisa saber o usuário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'1'='1'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53528" y="1737360"/>
            <a:ext cx="3968496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27848" y="192024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C7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MESMO PAYLOAD, DUAS VERSÕES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46136" y="2450592"/>
            <a:ext cx="146304" cy="14630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235915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  </a:t>
            </a:r>
            <a:pPr indent="0" marL="0">
              <a:buNone/>
            </a:pPr>
            <a:r>
              <a:rPr lang="en-US" sz="15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sem senha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46136" y="3127248"/>
            <a:ext cx="146304" cy="146304"/>
          </a:xfrm>
          <a:prstGeom prst="ellipse">
            <a:avLst/>
          </a:prstGeom>
          <a:solidFill>
            <a:srgbClr val="1F9D5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3035808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:3001  </a:t>
            </a:r>
            <a:pPr indent="0" marL="0">
              <a:buNone/>
            </a:pPr>
            <a:r>
              <a:rPr lang="en-US" sz="15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usuário/senha inválidos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46136" y="361188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aspa vira só um caractere do nome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43484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E9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44348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palco:  </a:t>
            </a:r>
            <a:pPr indent="0" marL="0">
              <a:buNone/>
            </a:pPr>
            <a:r>
              <a:rPr lang="en-US" sz="14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login normal — </a:t>
            </a:r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/ admin123</a:t>
            </a:r>
            <a:pPr indent="0" marL="0">
              <a:buNone/>
            </a:pPr>
            <a:r>
              <a:rPr lang="en-US" sz="140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para ninguém achar que é truque.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demo_02 · vazamento (UNION)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Roubar credenciais pela busca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200253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 o erro cru do MySQL (já vaza a estrutura)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78308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138928" y="200253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ORDER BY 5 --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49631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para no 5 → a query tem 4 colunas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73568" y="178308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02168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42248" y="200253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UNION SELECT 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49631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um 2º SELECT com 4 colunas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291840"/>
            <a:ext cx="11055096" cy="1234440"/>
          </a:xfrm>
          <a:prstGeom prst="roundRect">
            <a:avLst>
              <a:gd name="adj" fmla="val 7407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52400" dist="50800" dir="5400000">
              <a:srgbClr val="0E1B2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5295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996696" y="35295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0432" y="35295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888" y="3474720"/>
            <a:ext cx="10049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 — extrair usuários e hashes: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824" y="3858768"/>
            <a:ext cx="10488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zzz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UNION SELECT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username, senha_hash, papel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" y="4892040"/>
            <a:ext cx="146304" cy="14630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  </a:t>
            </a:r>
            <a:pPr indent="0" marL="0">
              <a:buNone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 todos os usuários e seus hashes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73368" y="4892040"/>
            <a:ext cx="146304" cy="146304"/>
          </a:xfrm>
          <a:prstGeom prst="ellipse">
            <a:avLst/>
          </a:prstGeom>
          <a:solidFill>
            <a:srgbClr val="1F9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:3001  </a:t>
            </a:r>
            <a:pPr indent="0" marL="0">
              <a:buNone/>
            </a:pPr>
            <a:r>
              <a:rPr lang="en-US" sz="14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"Nenhum produto encontrado."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· causa × cura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Concatenar × Parametrizar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52400" dist="50800" dir="5400000">
              <a:srgbClr val="0E1B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751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" y="19751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751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89888" y="19202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app_vulneravel/server.js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2304288"/>
            <a:ext cx="48280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sql =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`… username =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'${username}'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…`;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(sql);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" y="14173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4173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114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input é colado na string → a aspa vira código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7064" y="17373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52400" dist="50800" dir="5400000">
              <a:srgbClr val="0E1B2A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3096" y="19751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656832" y="19751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30568" y="19751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7050024" y="19202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8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app_seguro/server.js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2304288"/>
            <a:ext cx="48280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sql =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'… username =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';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(sql, [username, senhaHash]);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2784" y="141732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F9D57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14173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27064" y="4114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viaja separado; a forma da query é congelada antes dos dados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892040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89204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 </a:t>
            </a:r>
            <a:pPr algn="ctr" indent="0" marL="0">
              <a:buNone/>
            </a:pPr>
            <a:r>
              <a:rPr lang="en-US" sz="22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  ?</a:t>
            </a:r>
            <a:pPr algn="ctr" indent="0" marL="0">
              <a:buNone/>
            </a:pPr>
            <a:r>
              <a:rPr lang="en-US" sz="22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nunca  </a:t>
            </a:r>
            <a:pPr algn="ctr" indent="0" marL="0">
              <a:buNone/>
            </a:pPr>
            <a:r>
              <a:rPr lang="en-US" sz="22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${input}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· defesa em camadas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camadas + um bônus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842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55648" y="20208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55648" y="24414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a injeção na raiz — dado não é código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27064" y="17830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83096" y="19842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15784" y="20208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/ allowlist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15784" y="24414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entrada fora do formato conhecido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474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55648" y="35112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genérico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55648" y="39319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detalhe do MySQL fica só no log, não na tela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27064" y="3273552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E1B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83096" y="3474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15784" y="35112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privilégio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15784" y="39319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do banco só tem SELECT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02920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E9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0292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bônus:  </a:t>
            </a:r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multipleStatements: false</a:t>
            </a:r>
            <a:pPr indent="0" marL="0">
              <a:buNone/>
            </a:pPr>
            <a:r>
              <a:rPr lang="en-US" sz="1350" dirty="0">
                <a:solidFill>
                  <a:srgbClr val="334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corta stacked queries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70648" y="5029200"/>
            <a:ext cx="4151376" cy="777240"/>
          </a:xfrm>
          <a:prstGeom prst="roundRect">
            <a:avLst>
              <a:gd name="adj" fmla="val 11765"/>
            </a:avLst>
          </a:prstGeom>
          <a:solidFill>
            <a:srgbClr val="E9F6EE"/>
          </a:solidFill>
          <a:ln/>
        </p:spPr>
      </p:sp>
      <p:sp>
        <p:nvSpPr>
          <p:cNvPr id="23" name="Text 21"/>
          <p:cNvSpPr/>
          <p:nvPr/>
        </p:nvSpPr>
        <p:spPr>
          <a:xfrm>
            <a:off x="7699248" y="5029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produtos;</a:t>
            </a:r>
            <a:pPr indent="0" marL="0">
              <a:buNone/>
            </a:pPr>
            <a:r>
              <a:rPr lang="en-US" sz="1250" dirty="0">
                <a:solidFill>
                  <a:srgbClr val="33465B"/>
                </a:solidFill>
              </a:rPr>
              <a:t>  → </a:t>
            </a:r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"command denied"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tela pode ser um desastre ou um cofre.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12648" y="3429000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3310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doença:  </a:t>
            </a:r>
            <a:pPr indent="0" marL="0">
              <a:buNone/>
            </a:pPr>
            <a:r>
              <a:rPr lang="en-US" sz="2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dado com código.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12648" y="4114800"/>
            <a:ext cx="182880" cy="182880"/>
          </a:xfrm>
          <a:prstGeom prst="ellipse">
            <a:avLst/>
          </a:prstGeom>
          <a:solidFill>
            <a:srgbClr val="56D364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3995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cura:  </a:t>
            </a:r>
            <a:pPr indent="0" marL="0">
              <a:buNone/>
            </a:pPr>
            <a:r>
              <a:rPr lang="en-US" sz="20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 + defesa em camadas.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5074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Injection: do ataque a defesa</dc:title>
  <dc:subject>PptxGenJS Presentation</dc:subject>
  <dc:creator>Laboratorio SQLi</dc:creator>
  <cp:lastModifiedBy>Laboratorio SQLi</cp:lastModifiedBy>
  <cp:revision>1</cp:revision>
  <dcterms:created xsi:type="dcterms:W3CDTF">2026-07-16T04:24:12Z</dcterms:created>
  <dcterms:modified xsi:type="dcterms:W3CDTF">2026-07-16T04:24:12Z</dcterms:modified>
</cp:coreProperties>
</file>